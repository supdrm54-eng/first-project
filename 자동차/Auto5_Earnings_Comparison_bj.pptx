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생성형 AI 활용 실습 · 재무 데이터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13716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맑은 고딕"/>
                <a:ea typeface="맑은 고딕"/>
              </a:rPr>
              <a:t>해외 자동차 5개사 실적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78992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>
                <a:solidFill>
                  <a:srgbClr val="DDE3EC"/>
                </a:solidFill>
                <a:latin typeface="맑은 고딕"/>
                <a:ea typeface="맑은 고딕"/>
              </a:rPr>
              <a:t>공시 출처와 비교 기준을 먼저 고정한다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78992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B8C2D1"/>
                </a:solidFill>
                <a:latin typeface="맑은 고딕"/>
                <a:ea typeface="맑은 고딕"/>
              </a:rPr>
              <a:t>현대차 · 도요타 · 폭스바겐 · 테슬라 · BYD
프롬프트 → 공시 확인 → 기준 통일 → 비교표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B8C2D1"/>
                </a:solidFill>
                <a:latin typeface="맑은 고딕"/>
                <a:ea typeface="맑은 고딕"/>
              </a:rPr>
              <a:t>2026년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네 단계로 공정한 실적 비교표를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892808"/>
            <a:ext cx="160020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공시 출처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2194560" cy="21945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DART는 한국 공시 전용
국가별 공시 시스템 · 무료 열람 · 보고서 이름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6916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1920240"/>
            <a:ext cx="502920" cy="50292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92808"/>
            <a:ext cx="160020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비교의 함정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606040"/>
            <a:ext cx="2194560" cy="21945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이름은 같고 정의가 다른 숫자
비지배지분 · 회계연도 · 영업이익 정의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5" y="16916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5" y="1920240"/>
            <a:ext cx="502920" cy="50292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1892808"/>
            <a:ext cx="160020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비교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2606040"/>
            <a:ext cx="2194560" cy="21945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정의 → 기간 → 통화 → 비율 → 주석
계정명 대조 · 분기 합산 · 연평균 환율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3" y="1691640"/>
            <a:ext cx="2651760" cy="3200400"/>
          </a:xfrm>
          <a:prstGeom prst="rect">
            <a:avLst/>
          </a:prstGeom>
          <a:solidFill>
            <a:srgbClr val="1B2A41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98863" y="1920240"/>
            <a:ext cx="502920" cy="50292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8943" y="1892808"/>
            <a:ext cx="160020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실습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3" y="2606040"/>
            <a:ext cx="2194560" cy="21945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DDE3EC"/>
                </a:solidFill>
                <a:latin typeface="맑은 고딕"/>
                <a:ea typeface="맑은 고딕"/>
              </a:rPr>
              <a:t>프롬프트 고쳐 쓰기와 검수
수정 전후 비교 · 프롬프트 원문 · 체크리스트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66928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출처 → 함정 → 기준 → 실습 순서로 진행한다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기본 지식 — 연결 손익계산서(consolidated income statement)의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당기순이익은 마지막 단계에서 두 몫으로 나뉜다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19456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맑은 고딕"/>
                <a:ea typeface="맑은 고딕"/>
              </a:rPr>
              <a:t>매출액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Revenue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2130552"/>
            <a:ext cx="365760" cy="310896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D99A1E"/>
                </a:solidFill>
                <a:latin typeface="맑은 고딕"/>
                <a:ea typeface="맑은 고딕"/>
              </a:rPr>
              <a:t>매출원가·판관비 차감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78308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19456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맑은 고딕"/>
                <a:ea typeface="맑은 고딕"/>
              </a:rPr>
              <a:t>영업이익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Operating income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130552"/>
            <a:ext cx="365760" cy="310896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D99A1E"/>
                </a:solidFill>
                <a:latin typeface="맑은 고딕"/>
                <a:ea typeface="맑은 고딕"/>
              </a:rPr>
              <a:t>금융·기타 손익 가감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19456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맑은 고딕"/>
                <a:ea typeface="맑은 고딕"/>
              </a:rPr>
              <a:t>세전이익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Pre-tax income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95360" y="2130552"/>
            <a:ext cx="365760" cy="310896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D99A1E"/>
                </a:solidFill>
                <a:latin typeface="맑은 고딕"/>
                <a:ea typeface="맑은 고딕"/>
              </a:rPr>
              <a:t>법인세 차감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78308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828800"/>
            <a:ext cx="219456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맑은 고딕"/>
                <a:ea typeface="맑은 고딕"/>
              </a:rPr>
              <a:t>당기순이익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Net income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418320" y="2926080"/>
            <a:ext cx="365760" cy="411480"/>
          </a:xfrm>
          <a:prstGeom prst="down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3429000"/>
            <a:ext cx="4846320" cy="54864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6446520" y="3520440"/>
            <a:ext cx="365760" cy="320040"/>
          </a:xfrm>
          <a:prstGeom prst="down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10927080" y="3520440"/>
            <a:ext cx="365760" cy="320040"/>
          </a:xfrm>
          <a:prstGeom prst="down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3931920"/>
            <a:ext cx="3017520" cy="11887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931920"/>
            <a:ext cx="3017520" cy="11887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D99A1E"/>
                </a:solidFill>
                <a:latin typeface="맑은 고딕"/>
                <a:ea typeface="맑은 고딕"/>
              </a:rPr>
              <a:t>지배주주 귀속 순이익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DDE3EC"/>
                </a:solidFill>
                <a:latin typeface="맑은 고딕"/>
                <a:ea typeface="맑은 고딕"/>
              </a:rPr>
              <a:t>모회사 주주의 몫 → 비교 기준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9319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931920"/>
            <a:ext cx="2011680" cy="11887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비지배지분 순이익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소수주주의 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931920"/>
            <a:ext cx="4114800" cy="11887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맑은 고딕"/>
                <a:ea typeface="맑은 고딕"/>
              </a:rPr>
              <a:t>연결 당기순이익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맑은 고딕"/>
                <a:ea typeface="맑은 고딕"/>
              </a:rPr>
              <a:t>= 두 몫의 합계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자회사 지분을 100% 갖지 않으면 자회사 이익의 일부는 소수주주(비지배지분) 몫이 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기본 지식 — 연결재무제표 · 비지배지분 · 지배주주 귀속 순이익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기업 간 비교에는 모회사 주주 몫의 순이익을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66160" cy="73152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30175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CONSOLIDATED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301752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연결재무제표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46120"/>
            <a:ext cx="301752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모회사 + 자회사 합산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자회사 이익 전부 반영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9164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91640"/>
            <a:ext cx="3566160" cy="73152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965960"/>
            <a:ext cx="30175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NON-CONTROLLING INTEREST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377440"/>
            <a:ext cx="301752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비지배지분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246120"/>
            <a:ext cx="301752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소수주주의 몫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연결 순이익에 포함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691640"/>
            <a:ext cx="3566160" cy="3566160"/>
          </a:xfrm>
          <a:prstGeom prst="rect">
            <a:avLst/>
          </a:prstGeom>
          <a:solidFill>
            <a:srgbClr val="1B2A41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691640"/>
            <a:ext cx="3566160" cy="73152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0175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D99A1E"/>
                </a:solidFill>
                <a:latin typeface="맑은 고딕"/>
                <a:ea typeface="맑은 고딕"/>
              </a:rPr>
              <a:t>ATTRIBUTABLE TO 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301752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지배주주 귀속 순이익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301752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DDE3EC"/>
                </a:solidFill>
                <a:latin typeface="맑은 고딕"/>
                <a:ea typeface="맑은 고딕"/>
              </a:rPr>
              <a:t>모회사 주주의 몫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DDE3EC"/>
                </a:solidFill>
                <a:latin typeface="맑은 고딕"/>
                <a:ea typeface="맑은 고딕"/>
              </a:rPr>
              <a:t>EPS·PER 계산 기준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6928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EPS·PER 같은 주가 지표도 지배주주 귀속 순이익으로 계산한다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48640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D99A1E"/>
                </a:solidFill>
                <a:latin typeface="맑은 고딕"/>
                <a:ea typeface="맑은 고딕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공시 출처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2D1"/>
                </a:solidFill>
                <a:latin typeface="맑은 고딕"/>
                <a:ea typeface="맑은 고딕"/>
              </a:rPr>
              <a:t>어느 나라 공시 시스템에서 원문을 찾을지부터 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B8C2D1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01 · 공시 출처 · 실습 원문 — Perplexity에 넣은 첫 프롬프트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원래 프롬프트는 해외 4개사의 출처를 잘못 지정했다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840480" cy="36576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2918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9A1E"/>
                </a:solidFill>
                <a:latin typeface="맑은 고딕"/>
                <a:ea typeface="맑은 고딕"/>
              </a:rPr>
              <a:t>문제점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29184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DART는 국내 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329184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DDE3EC"/>
                </a:solidFill>
                <a:latin typeface="맑은 고딕"/>
                <a:ea typeface="맑은 고딕"/>
              </a:rPr>
              <a:t>해외 4사는 DART에 미등재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DDE3EC"/>
                </a:solidFill>
                <a:latin typeface="맑은 고딕"/>
                <a:ea typeface="맑은 고딕"/>
              </a:rPr>
              <a:t>AI가 2차 자료로 빈칸을 대체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691640"/>
            <a:ext cx="6949440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65836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[입력] 프롬프트 · Perplexity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194560"/>
            <a:ext cx="69494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468880"/>
            <a:ext cx="6309360" cy="2651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글로벌 자동차 5개사(현대·도요타·폭스바겐·테슬라·BYD)의 최근 3개년 매출·영업이익·영업이익률·R&amp;D 비용을 표로 정리하고 출처(DART·IR)를 붙여줘.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23560"/>
            <a:ext cx="64008" cy="50292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B23A2E"/>
                </a:solidFill>
                <a:latin typeface="맑은 고딕"/>
                <a:ea typeface="맑은 고딕"/>
              </a:rPr>
              <a:t>출처를 잘못 주면 AI는 뉴스·블로그 같은 2차 자료로 빈칸을 채운다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01 · 공시 출처 · 회사가 상장된 나라의 공시 시스템이 1차 출처다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5개사 공시는 모두 무료로 열람할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920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맑은 고딕"/>
                <a:ea typeface="맑은 고딕"/>
              </a:rPr>
              <a:t>현대차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91640"/>
            <a:ext cx="14630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한국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34840" y="1837944"/>
            <a:ext cx="411480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3474720" cy="56692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91640"/>
            <a:ext cx="34747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DART · 금융감독원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91640"/>
            <a:ext cx="30175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사업보고서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04872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1920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맑은 고딕"/>
                <a:ea typeface="맑은 고딕"/>
              </a:rPr>
              <a:t>도요타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04872"/>
            <a:ext cx="14630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일본 · 미국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434840" y="2551176"/>
            <a:ext cx="411480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404872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04872"/>
            <a:ext cx="34747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EDINET · SEC EDGAR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404872"/>
            <a:ext cx="30175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유가증권보고서 · 20-F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118104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18104"/>
            <a:ext cx="1920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맑은 고딕"/>
                <a:ea typeface="맑은 고딕"/>
              </a:rPr>
              <a:t>폭스바겐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118104"/>
            <a:ext cx="14630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독일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434840" y="3264408"/>
            <a:ext cx="411480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3118104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118104"/>
            <a:ext cx="34747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회사 IR · 연방관보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118104"/>
            <a:ext cx="30175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Annual 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831335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831335"/>
            <a:ext cx="1920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맑은 고딕"/>
                <a:ea typeface="맑은 고딕"/>
              </a:rPr>
              <a:t>테슬라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831335"/>
            <a:ext cx="14630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미국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434840" y="3977639"/>
            <a:ext cx="411480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3831335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831335"/>
            <a:ext cx="34747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SEC EDGAR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831335"/>
            <a:ext cx="30175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10-K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54456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44568"/>
            <a:ext cx="1920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맑은 고딕"/>
                <a:ea typeface="맑은 고딕"/>
              </a:rPr>
              <a:t>BYD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544568"/>
            <a:ext cx="14630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중국 · 홍콩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434840" y="4690872"/>
            <a:ext cx="411480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4544568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544568"/>
            <a:ext cx="34747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CNINFO · HKEXnews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544568"/>
            <a:ext cx="30175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年度报告 · Annual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※ 도요타는 뉴욕증시 상장사라 SEC에 20-F도 낸다 · 폭스바겐은 SEC 등록이 없어 회사 IR이 기본 출처다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01 · 공시 출처 · 각 사 최신 연간 보고서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회사마다 결산월·회계기준·통화가 모두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37" cy="31821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54787"/>
                <a:gridCol w="1580605"/>
                <a:gridCol w="2370908"/>
                <a:gridCol w="2370908"/>
                <a:gridCol w="2687029"/>
              </a:tblGrid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결산월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회계기준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보고 통화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최신 연간 매출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현대차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K-IFRS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원(KRW)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186.3조원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도요타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</a:rPr>
                        <a:t>3월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IFRS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엔(JPY)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50.68조엔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폭스바겐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IFRS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유로(EUR)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3,219억유로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테슬라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12월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US GAAP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달러(USD)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948억달러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BYD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CAS · HKFRS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위안(CNY)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8,040억위안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단위와 기간을 맞추기 전에는 같은 '매출'도 나란히 놓을 수 없다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48640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D99A1E"/>
                </a:solidFill>
                <a:latin typeface="맑은 고딕"/>
                <a:ea typeface="맑은 고딕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비교의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2D1"/>
                </a:solidFill>
                <a:latin typeface="맑은 고딕"/>
                <a:ea typeface="맑은 고딕"/>
              </a:rPr>
              <a:t>이름은 같지만 정의가 다른 숫자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B8C2D1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02 · 비교의 함정 · 각 사가 2025년 실적 발표에서 앞세운 순이익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보도자료 첫 줄의 순이익은 회사마다 정의가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출처: 각 사 2025년 실적 발표 · 연차보고서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9" cy="31821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96726"/>
                <a:gridCol w="2528969"/>
                <a:gridCol w="6638544"/>
              </a:tblGrid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헤드라인 순이익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포함하나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현대차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10조 3,648억원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</a:rPr>
                        <a:t>비지배지분 포함 (연결 당기순이익)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도요타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3조 8,480억엔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지배주주 귀속 · 4~3월 회계연도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폭스바겐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69억유로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</a:rPr>
                        <a:t>비지배지분·하이브리드 자본 몫 포함 (세후이익)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테슬라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37.9억달러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보통주 주주 귀속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BYD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326.2억위안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지배주주 귀속 (归母净利润)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헤드라인만 모으면 현대차·폭스바겐은 다른 정의로 표에 들어간다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02 · 비교의 함정 · 2025년 헤드라인 순이익과 지배주주 귀속 순이익의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같은 회사도 정의를 바꾸면 순이익이 최대 10% 달라진다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※ 현대차 지배주주 귀속 순이익 9조 4,460억원은 2025년 사업보고서 기준. 폭스바겐: Annual Report 2025</a:t>
            </a:r>
          </a:p>
        </p:txBody>
      </p:sp>
      <p:pic>
        <p:nvPicPr>
          <p:cNvPr id="7" name="Picture 6" descr="fig_def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0983"/>
            <a:ext cx="11064240" cy="38903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71500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헤드라인 순이익은 지배주주 몫보다 크게 잡힌다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02 · 비교의 함정 · 폭스바겐 2025 연차보고서 손익계산서의 세후이익 배분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폭스바겐 세후이익에는 하이브리드 자본 몫까지 들어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출처: Volkswagen AG, Annual Report 2025 연결 손익계산서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2011680" cy="854964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69.0억유로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93492"/>
            <a:ext cx="2011680" cy="652881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세후이익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502920" cy="1554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D99A1E"/>
                </a:solidFill>
                <a:latin typeface="맑은 고딕"/>
                <a:ea typeface="맑은 고딕"/>
              </a:rPr>
              <a:t>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377440" cy="1554480"/>
          </a:xfrm>
          <a:prstGeom prst="rect">
            <a:avLst/>
          </a:prstGeom>
          <a:solidFill>
            <a:srgbClr val="1B2A41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38528"/>
            <a:ext cx="2011680" cy="854964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D99A1E"/>
                </a:solidFill>
                <a:latin typeface="맑은 고딕"/>
                <a:ea typeface="맑은 고딕"/>
              </a:rPr>
              <a:t>66.7억유로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93492"/>
            <a:ext cx="2011680" cy="652881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DE3EC"/>
                </a:solidFill>
                <a:latin typeface="맑은 고딕"/>
                <a:ea typeface="맑은 고딕"/>
              </a:rPr>
              <a:t>VW 주주 몫 (비교 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828800"/>
            <a:ext cx="502920" cy="1554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D99A1E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82880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38528"/>
            <a:ext cx="2011680" cy="854964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6.5억유로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93492"/>
            <a:ext cx="2011680" cy="652881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하이브리드 자본 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828800"/>
            <a:ext cx="502920" cy="1554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D99A1E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82880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38528"/>
            <a:ext cx="2011680" cy="854964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B23A2E"/>
                </a:solidFill>
                <a:latin typeface="맑은 고딕"/>
                <a:ea typeface="맑은 고딕"/>
              </a:rPr>
              <a:t>−4.2억유로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93492"/>
            <a:ext cx="2011680" cy="652881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비지배지분 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73152" cy="13716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40480"/>
            <a:ext cx="10652760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하이브리드 자본(hybrid capital)이란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43400"/>
            <a:ext cx="1065276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만기가 없어 회계상 자본으로 분류되는 채권형 증권이다. 이자 성격의 배분이 세후이익에서 빠져나가므로 주주 몫이 아니다.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주주 몫만 비교하려면 66.7억유로를 써야 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02 · 비교의 함정 · 회사별 최신 연간 실적이 덮는 기간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도요타의 최신 연간 실적은 3개월 늦게 끝난다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※ 빗금은 도요타 FY2025의 마지막 분기(2025.1~3월). 역년으로 맞추려면 이 구간을 더하고 2026.1~3월을 뺀다</a:t>
            </a:r>
          </a:p>
        </p:txBody>
      </p:sp>
      <p:pic>
        <p:nvPicPr>
          <p:cNvPr id="7" name="Picture 6" descr="fig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62" y="1554480"/>
            <a:ext cx="10583794" cy="40233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71500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회계연도가 다르면 같은 '2025년'도 다른 12개월을 가리킨다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02 · 비교의 함정 · 그래서 이 실습은 순이익률을 주 지표로 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영업이익도 회사마다 담는 항목이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30175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B6B82"/>
                </a:solidFill>
                <a:latin typeface="맑은 고딕"/>
                <a:ea typeface="맑은 고딕"/>
              </a:rPr>
              <a:t>현대차 · 도요타 · 테슬라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301752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본업에서 번 이익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08960"/>
            <a:ext cx="301752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매출 − 원가 − 판관비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영업외 손익은 제외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691640"/>
            <a:ext cx="3566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74519"/>
            <a:ext cx="30175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B6B82"/>
                </a:solidFill>
                <a:latin typeface="맑은 고딕"/>
                <a:ea typeface="맑은 고딕"/>
              </a:rPr>
              <a:t>폭스바겐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86000"/>
            <a:ext cx="301752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Operating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108960"/>
            <a:ext cx="301752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기타영업수익·비용 포함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2025년 88.7억유로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691640"/>
            <a:ext cx="3566160" cy="3429000"/>
          </a:xfrm>
          <a:prstGeom prst="rect">
            <a:avLst/>
          </a:prstGeom>
          <a:solidFill>
            <a:srgbClr val="1B2A41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30175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9A1E"/>
                </a:solidFill>
                <a:latin typeface="맑은 고딕"/>
                <a:ea typeface="맑은 고딕"/>
              </a:rPr>
              <a:t>BYD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017520" cy="6400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영업이익 줄이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DDE3EC"/>
                </a:solidFill>
                <a:latin typeface="맑은 고딕"/>
                <a:ea typeface="맑은 고딕"/>
              </a:rPr>
              <a:t>홍콩 공시는 세전이익으로 바로 간다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600" b="0">
                <a:solidFill>
                  <a:srgbClr val="DDE3EC"/>
                </a:solidFill>
                <a:latin typeface="맑은 고딕"/>
                <a:ea typeface="맑은 고딕"/>
              </a:rPr>
              <a:t>A주 营业利润은 투자수익 포함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영업이익률을 쓸 때는 '회사 정의 그대로'라는 주석을 반드시 단다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48640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D99A1E"/>
                </a:solidFill>
                <a:latin typeface="맑은 고딕"/>
                <a:ea typeface="맑은 고딕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공정한 비교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2D1"/>
                </a:solidFill>
                <a:latin typeface="맑은 고딕"/>
                <a:ea typeface="맑은 고딕"/>
              </a:rPr>
              <a:t>정의·기간·통화를 먼저 고정하고 숫자를 채운다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B8C2D1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03 · 비교 기준 · 사람이 기준을 정하고, AI는 그 기준에 맞는 숫자를 찾는다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비교 기준은 다섯 단계로 고정한다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103120"/>
            <a:ext cx="548640" cy="54864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01168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8288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지배주주 귀속
순이익으로 통일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92324" y="3154680"/>
            <a:ext cx="192024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6352" y="182880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7872" y="2103120"/>
            <a:ext cx="548640" cy="54864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788920"/>
            <a:ext cx="201168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3429000"/>
            <a:ext cx="18288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1~12월 역년
분기 합산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0036" y="3154680"/>
            <a:ext cx="192024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4064" y="182880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15583" y="2103120"/>
            <a:ext cx="548640" cy="54864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788920"/>
            <a:ext cx="201168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통화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3" y="3429000"/>
            <a:ext cx="18288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연평균 환율
원화 환산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7748" y="3154680"/>
            <a:ext cx="192024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1775" y="182880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83296" y="2103120"/>
            <a:ext cx="548640" cy="54864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2788920"/>
            <a:ext cx="201168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A41"/>
                </a:solidFill>
                <a:latin typeface="맑은 고딕"/>
                <a:ea typeface="맑은 고딕"/>
              </a:rPr>
              <a:t>비율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5" y="3429000"/>
            <a:ext cx="18288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순이익률로
규모 효과 제거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95459" y="3154680"/>
            <a:ext cx="192024" cy="27432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19488" y="1828800"/>
            <a:ext cx="2011680" cy="2926080"/>
          </a:xfrm>
          <a:prstGeom prst="rect">
            <a:avLst/>
          </a:prstGeom>
          <a:solidFill>
            <a:srgbClr val="1B2A41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51008" y="2103120"/>
            <a:ext cx="548640" cy="54864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788920"/>
            <a:ext cx="201168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주석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3429000"/>
            <a:ext cx="18288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DDE3EC"/>
                </a:solidFill>
                <a:latin typeface="맑은 고딕"/>
                <a:ea typeface="맑은 고딕"/>
              </a:rPr>
              <a:t>회계기준 차이
표 아래 명시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1~3단계는 숫자 자체를 맞추고, 4~5단계는 숫자를 읽는 법을 맞춘다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03 · 비교 기준 · 회사별 '지배주주 귀속 순이익'의 원문 표기와 최신 연간 금액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원문 계정명을 함께 적으면 정의 혼동이 사라진다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출처: DART 2025 사업보고서 · Toyota FY2025 결산 · VW Annual Report 2025 · Tesla 10-K FY2025 · BYD 2025 연차보고서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9" cy="31821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94201"/>
                <a:gridCol w="6877770"/>
                <a:gridCol w="2392268"/>
              </a:tblGrid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원문 계정명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금액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현대차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지배기업 소유주지분 순이익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9조 4,460억원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도요타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Net income attributable to Toyota Motor Corporation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3.848조엔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폭스바겐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attributable to Volkswagen AG shareholders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66.7억유로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테슬라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Net income attributable to common stockholders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37.9억달러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BYD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归属于母公司股东的净利润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326.2억위안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AI가 다른 정의의 숫자를 가져오면 계정명에서 바로 드러난다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03 · 비교 기준 · 연간 실적과 9개월 누적 실적으로 2025년 역년 값을 만든다 (단위: 조엔)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분기 실적을 더하고 빼면 도요타도 1~12월로 맞춰진다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출처: Toyota FY2025·FY2026 결산 및 3분기 누적 실적 발표(global.toyota)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64239" cy="19202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94201"/>
                <a:gridCol w="2242751"/>
                <a:gridCol w="2392268"/>
                <a:gridCol w="2392268"/>
                <a:gridCol w="2242751"/>
              </a:tblGrid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FY2025 연간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− FY2025 9개월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+ FY2026 9개월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= 2025 역년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매출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48.037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35.673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38.087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1">
                          <a:solidFill>
                            <a:srgbClr val="D99A1E"/>
                          </a:solidFill>
                          <a:latin typeface="맑은 고딕"/>
                          <a:ea typeface="맑은 고딕"/>
                        </a:rPr>
                        <a:t>50.451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7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순이익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4.765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4.100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3.030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700" b="1">
                          <a:solidFill>
                            <a:srgbClr val="D99A1E"/>
                          </a:solidFill>
                          <a:latin typeface="맑은 고딕"/>
                          <a:ea typeface="맑은 고딕"/>
                        </a:rPr>
                        <a:t>3.695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886200"/>
            <a:ext cx="3566160" cy="1234440"/>
          </a:xfrm>
          <a:prstGeom prst="rect">
            <a:avLst/>
          </a:prstGeom>
          <a:solidFill>
            <a:srgbClr val="1B2A41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95928"/>
            <a:ext cx="3200400" cy="678942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99A1E"/>
                </a:solidFill>
                <a:latin typeface="맑은 고딕"/>
                <a:ea typeface="맑은 고딕"/>
              </a:rPr>
              <a:t>3.695조엔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74870"/>
            <a:ext cx="3200400" cy="51846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DE3EC"/>
                </a:solidFill>
                <a:latin typeface="맑은 고딕"/>
                <a:ea typeface="맑은 고딕"/>
              </a:rPr>
              <a:t>2025 역년 순이익 (1~12월)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88620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995928"/>
            <a:ext cx="3200400" cy="678942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5B6B82"/>
                </a:solidFill>
                <a:latin typeface="맑은 고딕"/>
                <a:ea typeface="맑은 고딕"/>
              </a:rPr>
              <a:t>3.848조엔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674870"/>
            <a:ext cx="3200400" cy="51846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FY2025 회계연도 값 (2024.4~2025.3)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88620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995928"/>
            <a:ext cx="3200400" cy="678942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B23A2E"/>
                </a:solidFill>
                <a:latin typeface="맑은 고딕"/>
                <a:ea typeface="맑은 고딕"/>
              </a:rPr>
              <a:t>−4%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674870"/>
            <a:ext cx="3200400" cy="51846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맑은 고딕"/>
                <a:ea typeface="맑은 고딕"/>
              </a:rPr>
              <a:t>역년 값과 회계연도 값의 차이 (약)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역년 순이익 3.695조엔은 회계연도 값 3.848조엔보다 약 4% 작다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03 · 비교 기준 · 2025년 연평균 — 엔·유로·위안은 달러를 거치는 재정환율로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손익은 그해 평균 환율로 원화 환산한다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출처: 원/달러 1,422.16(서울외환시장 주간 연평균) · 엔/달러 149.57(미 연준 G.5A) · 달러/유로 1.13(ECB) · 위안/달러 7.189(미 IRS)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286000" cy="754380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1,422.16원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1468"/>
            <a:ext cx="2286000" cy="57607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원/달러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7373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847088"/>
            <a:ext cx="2286000" cy="754380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950.84원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01468"/>
            <a:ext cx="2286000" cy="57607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원/100엔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5" y="17373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847088"/>
            <a:ext cx="2286000" cy="754380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1,607.04원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601468"/>
            <a:ext cx="2286000" cy="57607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원/유로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70263" y="17373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3" y="1847088"/>
            <a:ext cx="2286000" cy="754380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197.82원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3" y="2601468"/>
            <a:ext cx="2286000" cy="57607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82"/>
                </a:solidFill>
                <a:latin typeface="맑은 고딕"/>
                <a:ea typeface="맑은 고딕"/>
              </a:rPr>
              <a:t>원/위안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5440680" cy="1737360"/>
          </a:xfrm>
          <a:prstGeom prst="rect">
            <a:avLst/>
          </a:prstGeom>
          <a:solidFill>
            <a:srgbClr val="1B2A41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5029200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손익계산서 → 연평균 환율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5029200" cy="100583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DDE3EC"/>
                </a:solidFill>
                <a:latin typeface="맑은 고딕"/>
                <a:ea typeface="맑은 고딕"/>
              </a:rPr>
              <a:t>손익은 1년 동안 쌓인 흐름이므로 연평균 환율을 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383280"/>
            <a:ext cx="5440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383280"/>
            <a:ext cx="73152" cy="173736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20440"/>
            <a:ext cx="5029200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재무상태표 → 기말 환율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5029200" cy="100583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자산·부채는 특정 시점의 잔액이므로 기말 환율로 환산한다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흐름(손익)과 잔액(자산·부채)에 쓰는 환율이 다르다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03 · 비교 기준 · 1~12월 · 지배주주 귀속 순이익 · 2025년 연평균 환율로 원화 환산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기준을 통일한 2025년 비교표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※ 도요타는 분기 합산 역년 값 · 폭스바겐은 하이브리드 자본·비지배지분 몫 제외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8" cy="31821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25846"/>
                <a:gridCol w="2181681"/>
                <a:gridCol w="2181681"/>
                <a:gridCol w="2025846"/>
                <a:gridCol w="2649184"/>
              </a:tblGrid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매출(조원)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순이익(조원)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순이익률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원통화 순이익</a:t>
                      </a:r>
                    </a:p>
                  </a:txBody>
                  <a:tcPr marL="91440" marR="91440" marT="36576" marB="36576" anchor="ctr">
                    <a:solidFill>
                      <a:srgbClr val="1B2A4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현대차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186.3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9.45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5.1%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9.45조원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도요타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479.7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35.13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D99A1E"/>
                          </a:solidFill>
                          <a:latin typeface="맑은 고딕"/>
                          <a:ea typeface="맑은 고딕"/>
                        </a:rPr>
                        <a:t>7.3%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3.70조엔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폭스바겐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D99A1E"/>
                          </a:solidFill>
                          <a:latin typeface="맑은 고딕"/>
                          <a:ea typeface="맑은 고딕"/>
                        </a:rPr>
                        <a:t>517.3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10.72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2.1%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66.7억유로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테슬라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134.9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5.40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4.0%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37.9억달러</a:t>
                      </a:r>
                    </a:p>
                  </a:txBody>
                  <a:tcPr marL="91440" marR="91440" marT="36576" marB="36576" anchor="ctr">
                    <a:solidFill>
                      <a:srgbClr val="E4E9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>
                          <a:solidFill>
                            <a:srgbClr val="1B2A41"/>
                          </a:solidFill>
                          <a:latin typeface="맑은 고딕"/>
                          <a:ea typeface="맑은 고딕"/>
                        </a:rPr>
                        <a:t>BYD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159.0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6.45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4.1%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326.2억위안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같은 기준에 놓자 규모 순위와 수익성 순위가 갈린다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03 · 비교 기준 · 2025년 1~12월 · 원화 환산 매출과 지배주주 기준 순이익률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매출 1위는 폭스바겐, 순이익률 1위는 도요타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B82"/>
                </a:solidFill>
                <a:latin typeface="맑은 고딕"/>
                <a:ea typeface="맑은 고딕"/>
              </a:rPr>
              <a:t>※ 순이익률은 분자·분모가 같은 통화라 환율의 영향을 받지 않는다</a:t>
            </a:r>
          </a:p>
        </p:txBody>
      </p:sp>
      <p:pic>
        <p:nvPicPr>
          <p:cNvPr id="7" name="Picture 6" descr="fig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1186"/>
            <a:ext cx="11064240" cy="38899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71500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규모가 크다고 더 많이 남기는 것은 아니다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48640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D99A1E"/>
                </a:solidFill>
                <a:latin typeface="맑은 고딕"/>
                <a:ea typeface="맑은 고딕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실습: 프롬프트 고쳐 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2D1"/>
                </a:solidFill>
                <a:latin typeface="맑은 고딕"/>
                <a:ea typeface="맑은 고딕"/>
              </a:rPr>
              <a:t>수정 전후 프롬프트와 결과 검수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B8C2D1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04 · 실습 · 같은 5개사 순이익 — 수정 전 프롬프트와 수정 후 프롬프트의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프롬프트에 비교 기준을 적으면 결과가 달라진다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257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4632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B6B82"/>
                </a:solidFill>
                <a:latin typeface="맑은 고딕"/>
                <a:ea typeface="맑은 고딕"/>
              </a:rPr>
              <a:t>BEFORE · 헤드라인 순이익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691640"/>
            <a:ext cx="5257800" cy="37033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84632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9A1E"/>
                </a:solidFill>
                <a:latin typeface="맑은 고딕"/>
                <a:ea typeface="맑은 고딕"/>
              </a:rPr>
              <a:t>AFTER · 지배주주 귀속 · 1~12월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현대차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86000"/>
            <a:ext cx="14630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</a:rPr>
              <a:t>10.36조원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359152"/>
            <a:ext cx="2103120" cy="32918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359152"/>
            <a:ext cx="2103120" cy="32918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비지배 포함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현대차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286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9.45조원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286000"/>
            <a:ext cx="19202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DE3EC"/>
                </a:solidFill>
                <a:latin typeface="맑은 고딕"/>
                <a:ea typeface="맑은 고딕"/>
              </a:rPr>
              <a:t>✓ 기준 일치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834640"/>
            <a:ext cx="4846320" cy="13716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834640"/>
            <a:ext cx="4846320" cy="13716"/>
          </a:xfrm>
          <a:prstGeom prst="rect">
            <a:avLst/>
          </a:prstGeom>
          <a:solidFill>
            <a:srgbClr val="26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89504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도요타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889504"/>
            <a:ext cx="14630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</a:rPr>
              <a:t>3.85조엔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962656"/>
            <a:ext cx="2103120" cy="32918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962656"/>
            <a:ext cx="2103120" cy="32918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4~3월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89504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도요타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889504"/>
            <a:ext cx="1600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3.70조엔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889504"/>
            <a:ext cx="19202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DE3EC"/>
                </a:solidFill>
                <a:latin typeface="맑은 고딕"/>
                <a:ea typeface="맑은 고딕"/>
              </a:rPr>
              <a:t>✓ 기준 일치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438144"/>
            <a:ext cx="4846320" cy="13716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3438144"/>
            <a:ext cx="4846320" cy="13716"/>
          </a:xfrm>
          <a:prstGeom prst="rect">
            <a:avLst/>
          </a:prstGeom>
          <a:solidFill>
            <a:srgbClr val="26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493008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폭스바겐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93008"/>
            <a:ext cx="14630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</a:rPr>
              <a:t>69.0억유로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3566160"/>
            <a:ext cx="2103120" cy="32918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566160"/>
            <a:ext cx="2103120" cy="32918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비지배·하이브리드 포함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493008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폭스바겐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493008"/>
            <a:ext cx="1600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66.7억유로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493008"/>
            <a:ext cx="19202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DE3EC"/>
                </a:solidFill>
                <a:latin typeface="맑은 고딕"/>
                <a:ea typeface="맑은 고딕"/>
              </a:rPr>
              <a:t>✓ 기준 일치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041648"/>
            <a:ext cx="4846320" cy="13716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4041648"/>
            <a:ext cx="4846320" cy="13716"/>
          </a:xfrm>
          <a:prstGeom prst="rect">
            <a:avLst/>
          </a:prstGeom>
          <a:solidFill>
            <a:srgbClr val="26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096512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테슬라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096512"/>
            <a:ext cx="14630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</a:rPr>
              <a:t>37.9억달러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96512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테슬라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096512"/>
            <a:ext cx="1600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37.9억달러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096512"/>
            <a:ext cx="19202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DE3EC"/>
                </a:solidFill>
                <a:latin typeface="맑은 고딕"/>
                <a:ea typeface="맑은 고딕"/>
              </a:rPr>
              <a:t>✓ 기준 일치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645152"/>
            <a:ext cx="4846320" cy="13716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4645152"/>
            <a:ext cx="4846320" cy="13716"/>
          </a:xfrm>
          <a:prstGeom prst="rect">
            <a:avLst/>
          </a:prstGeom>
          <a:solidFill>
            <a:srgbClr val="26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700016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BYD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700016"/>
            <a:ext cx="14630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</a:rPr>
              <a:t>326.2억위안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700016"/>
            <a:ext cx="1188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BYD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4700016"/>
            <a:ext cx="1600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326.2억위안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4700016"/>
            <a:ext cx="19202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DE3EC"/>
                </a:solidFill>
                <a:latin typeface="맑은 고딕"/>
                <a:ea typeface="맑은 고딕"/>
              </a:rPr>
              <a:t>✓ 기준 일치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897880" y="3383280"/>
            <a:ext cx="365760" cy="365760"/>
          </a:xfrm>
          <a:prstGeom prst="rightArrow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623560"/>
            <a:ext cx="64008" cy="50292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62356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B23A2E"/>
                </a:solidFill>
                <a:latin typeface="맑은 고딕"/>
                <a:ea typeface="맑은 고딕"/>
              </a:rPr>
              <a:t>빨간 표시가 붙은 숫자가 정의·기간이 다른 채로 섞여 있던 값이다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04 · 실습 · Perplexity·Claude 등 웹 검색이 되는 AI에 그대로 붙여 넣는다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수정 프롬프트는 그대로 재사용할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[입력] 수정 프롬프트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64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424160" cy="2743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글로벌 자동차 5개사(현대·도요타·폭스바겐·테슬라·BYD)의 2025년 실적을 비교해줘.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순이익: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지배주주 귀속 순이익으로 통일, 원문 계정명과 출처 페이지를 열로 추가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출처: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현대 DART · 도요타 EDINET/SEC 20-F · 폭스바겐 연차보고서 · 테슬라 10-K · BYD HKEX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기간: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2025년 1~12월 — 도요타는 분기 실적을 합산하고 내역을 표시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통화: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2025년 연평균 환율로 원화 환산, 환율 출처와 원통화 금액 병기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1">
                <a:solidFill>
                  <a:srgbClr val="1B2A41"/>
                </a:solidFill>
                <a:latin typeface="맑은 고딕"/>
                <a:ea typeface="맑은 고딕"/>
              </a:rPr>
              <a:t>지표: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순이익률·영업이익률 열 추가, 비지배지분 포함 수치는 별도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4068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기준을 적은 프롬프트는 다른 업종 비교에도 쓰는 템플릿이 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PART 04 · 실습 · 숫자 하나를 골라 원문 공시와 직접 대조한다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AI가 만든 비교표는 세 가지를 먼저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9A1E"/>
                </a:solidFill>
                <a:latin typeface="맑은 고딕"/>
                <a:ea typeface="맑은 고딕"/>
              </a:rPr>
              <a:t>CHECK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04288"/>
            <a:ext cx="251460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맑은 고딕"/>
                <a:ea typeface="맑은 고딕"/>
              </a:rPr>
              <a:t>계정명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3108960" cy="19202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· attributable 여부
· 비지배지분 포함 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691640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9A1E"/>
                </a:solidFill>
                <a:latin typeface="맑은 고딕"/>
                <a:ea typeface="맑은 고딕"/>
              </a:rPr>
              <a:t>CHECK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1031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79" y="2331720"/>
            <a:ext cx="502920" cy="50292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304288"/>
            <a:ext cx="251460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맑은 고딕"/>
                <a:ea typeface="맑은 고딕"/>
              </a:rPr>
              <a:t>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017520"/>
            <a:ext cx="3108960" cy="19202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· 결산월이 같은가
· FY·역년 표기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691640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9A1E"/>
                </a:solidFill>
                <a:latin typeface="맑은 고딕"/>
                <a:ea typeface="맑은 고딕"/>
              </a:rPr>
              <a:t>CHECK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1031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19" y="2331720"/>
            <a:ext cx="502920" cy="502920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2304288"/>
            <a:ext cx="251460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B2A41"/>
                </a:solidFill>
                <a:latin typeface="맑은 고딕"/>
                <a:ea typeface="맑은 고딕"/>
              </a:rPr>
              <a:t>환율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17520"/>
            <a:ext cx="3108960" cy="19202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· 평균·기말 환율 구분
· 환율 출처·기준일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숫자 하나라도 원문과 다르면 표 전체를 다시 확인한다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B6B82"/>
                </a:solidFill>
                <a:latin typeface="맑은 고딕"/>
                <a:ea typeface="맑은 고딕"/>
              </a:rPr>
              <a:t>출처 · 2026년 10월 확인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B2A41"/>
                </a:solidFill>
                <a:latin typeface="맑은 고딕"/>
                <a:ea typeface="맑은 고딕"/>
              </a:rPr>
              <a:t>이 덱의 숫자는 모두 공개 자료에서 확인할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82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3108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현대차: 2025년 경영실적 발표(2026.1.29) · DART 2025 사업보고서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도요타: FY2025·FY2026 결산 및 FY2025·FY2026 3분기 누적 실적 발표(global.toyota)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폭스바겐: Annual Report 2025 연결 손익계산서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테슬라: Form 10-K FY2025 (SEC EDGAR)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BYD: 2025년 연차보고서 (HKEXnews · CNINFO)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D99A1E"/>
                </a:solidFill>
                <a:latin typeface="맑은 고딕"/>
                <a:ea typeface="맑은 고딕"/>
              </a:rPr>
              <a:t>· 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</a:rPr>
              <a:t>환율: 원/달러 1,422.16(서울외환시장 주간 연평균) · 엔/달러 149.57(미 연준 G.5A) · 달러/유로 1.13(ECB) · 위안/달러 7.189(미 IRS)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49240"/>
            <a:ext cx="64008" cy="50292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맑은 고딕"/>
                <a:ea typeface="맑은 고딕"/>
              </a:rPr>
              <a:t>실습에서는 이 출처에서 숫자 하나를 직접 찾아 비교표와 대조한다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D99A1E"/>
                </a:solidFill>
                <a:latin typeface="맑은 고딕"/>
                <a:ea typeface="맑은 고딕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789920" cy="24688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SOURCE FIRST.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SAME DEFINITION.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D99A1E"/>
                </a:solidFill>
                <a:latin typeface="맑은 고딕"/>
                <a:ea typeface="맑은 고딕"/>
              </a:rPr>
              <a:t>THEN COMPARE.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789920" cy="10972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DDE3EC"/>
                </a:solidFill>
                <a:latin typeface="맑은 고딕"/>
                <a:ea typeface="맑은 고딕"/>
              </a:rPr>
              <a:t>기준을 정하는 것은 사람, 숫자를 찾는 것은 AI다.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B8C2D1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